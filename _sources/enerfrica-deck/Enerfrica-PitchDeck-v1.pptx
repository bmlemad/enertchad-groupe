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6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914400"/>
            <a:ext cx="5486400" cy="5486400"/>
          </a:xfrm>
          <a:prstGeom prst="ellipse">
            <a:avLst/>
          </a:prstGeom>
          <a:solidFill>
            <a:srgbClr val="001A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5669280"/>
            <a:ext cx="11247120" cy="0"/>
          </a:xfrm>
          <a:prstGeom prst="line">
            <a:avLst/>
          </a:prstGeom>
          <a:noFill/>
          <a:ln w="25400">
            <a:solidFill>
              <a:srgbClr val="D4A2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5532120"/>
            <a:ext cx="274320" cy="274320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0" y="5532120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Shape 5"/>
          <p:cNvSpPr/>
          <p:nvPr/>
        </p:nvSpPr>
        <p:spPr>
          <a:xfrm>
            <a:off x="11612880" y="5532120"/>
            <a:ext cx="274320" cy="274320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" y="5897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Douala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94960" y="5897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Ngaoundéré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515600" y="5897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N'Djamena → Bangui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8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ENERFRICA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Energy Holdings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4008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énergétique privé, indépendant et panafricain.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4846320"/>
            <a:ext cx="2194560" cy="32004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846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 ·  v1.0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7E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Cameroun  ·  Tchad  ·  Centrafrique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4A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VISION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Construire le corridor énergétique de référence en Afrique centrale.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Énergie · Logistique · Technologie — dans un modèle privé, indépendant et apolitique.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54864" cy="146304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8346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Approche privée &amp; moderne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29184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 d'entreprise, transparence, standards internationaux OHADA.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834640"/>
            <a:ext cx="54864" cy="146304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8346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intégrée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46520" y="329184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l'importation à la distribution, sans rupture de chaîne.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526280"/>
            <a:ext cx="54864" cy="146304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5262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Fiabilité &amp; performance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" y="498348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SCADA, IoT et IA prédictive au cœur des opérations quotidiennes.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4526280"/>
            <a:ext cx="54864" cy="146304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45262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panafricaine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46520" y="498348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Scalabilité multi-pays ancrée dans une exécution locale rigoureuse.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  ·  Enerfrica — African Energy Holdings  ·  Strictement confidentiel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4A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NOUS SOMMES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Enerfrica en bref.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énergétique panafricaine · Cameroun · Tchad · Centrafrique.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Enerfrica est une holding énergétique panafricaine opérant au Cameroun, au Tchad et en Centrafrique, avec une stratégie claire : moderniser l'accès à l'énergie en Afrique centrale à travers un modèle privé, intégré et résilient.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46634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filiales opérationnelles. Trois marques d'expertise. Une vision partagée.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040880" y="265176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D9DE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78040" y="2788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E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PRIVÉ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78040" y="3063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178040" y="36118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détenu par fondateurs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326880" y="265176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D9DE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64040" y="2788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E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464040" y="3063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OHADA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464040" y="36118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Société anonyme · comités spécialisés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40880" y="425196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D9DE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78040" y="4389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E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78040" y="4663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pays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178040" y="5212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Cameroun · Tchad · Centrafrique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326880" y="425196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D9DE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64040" y="4389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E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464040" y="4663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marques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464040" y="5212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EnerTech™ · GreenTech™ · EnerServ™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  ·  Enerfrica — African Energy Holdings  ·  Strictement confidentiel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4A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MODÈLE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modèle intégré, fiable et adapté.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Conçu pour garantir la continuité d'approvisionnement, la sécurité opérationnelle et la performance multi-pays.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2356" y="310896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0033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2356" y="321868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2356" y="3547872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08276" y="347472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436876" y="310896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0033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6876" y="321868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36876" y="3547872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082796" y="347472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311396" y="310896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0033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1396" y="321868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11396" y="3547872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57316" y="347472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185916" y="310896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D4A2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85916" y="321868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D4A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85916" y="3547872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831836" y="347472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060436" y="310896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2F7D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60436" y="321868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2F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60436" y="3547872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Énergie propre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706356" y="347472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934956" y="310896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5A3E8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34956" y="321868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5A3E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934956" y="3547872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 industriels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4663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étape du modèle est opérée en propre ou via une filiale dédiée. Pas d'externalisation critique.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14400" y="5394960"/>
            <a:ext cx="54864" cy="64008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32" name="Text 30"/>
          <p:cNvSpPr/>
          <p:nvPr/>
        </p:nvSpPr>
        <p:spPr>
          <a:xfrm>
            <a:off x="1097280" y="53949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CONTINUITÉ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97280" y="56509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Chaîne sans rupture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4480560" y="5394960"/>
            <a:ext cx="54864" cy="64008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53949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63440" y="56509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Standards internationaux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8046720" y="5394960"/>
            <a:ext cx="54864" cy="64008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0" y="53949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229600" y="56509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temps réel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  ·  Enerfrica — African Energy Holdings  ·  Strictement confidentiel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4A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CORRIDOR ÉNERGÉTIQUE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Cameroun → Tchad → Centrafrique.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corridor stratégique d'Afrique centrale — 2 000+ km d'infrastructure intégrée.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3657600"/>
            <a:ext cx="10332720" cy="0"/>
          </a:xfrm>
          <a:prstGeom prst="line">
            <a:avLst/>
          </a:prstGeom>
          <a:noFill/>
          <a:ln w="38100">
            <a:solidFill>
              <a:srgbClr val="D4A2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474720"/>
            <a:ext cx="365760" cy="365760"/>
          </a:xfrm>
          <a:prstGeom prst="ellipse">
            <a:avLst/>
          </a:prstGeom>
          <a:solidFill>
            <a:srgbClr val="D4A24C"/>
          </a:solidFill>
          <a:ln w="25400">
            <a:solidFill>
              <a:srgbClr val="0033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51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-274320" y="40233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7E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CAMEROUN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-274320" y="4251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Douala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-274320" y="4617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78808" y="3474720"/>
            <a:ext cx="365760" cy="365760"/>
          </a:xfrm>
          <a:prstGeom prst="ellipse">
            <a:avLst/>
          </a:prstGeom>
          <a:solidFill>
            <a:srgbClr val="D4A24C"/>
          </a:solidFill>
          <a:ln w="25400">
            <a:solidFill>
              <a:srgbClr val="0033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04488" y="2651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172968" y="40233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7E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CAMEROUN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172968" y="4251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Ngaoundéré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172968" y="4617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Nord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26096" y="3474720"/>
            <a:ext cx="365760" cy="365760"/>
          </a:xfrm>
          <a:prstGeom prst="ellipse">
            <a:avLst/>
          </a:prstGeom>
          <a:solidFill>
            <a:srgbClr val="D4A24C"/>
          </a:solidFill>
          <a:ln w="25400">
            <a:solidFill>
              <a:srgbClr val="0033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51776" y="2651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20256" y="40233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7E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TCHAD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20256" y="4251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N'Djamena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20256" y="4617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Réception · Raffinage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1064240" y="3474720"/>
            <a:ext cx="365760" cy="365760"/>
          </a:xfrm>
          <a:prstGeom prst="ellipse">
            <a:avLst/>
          </a:prstGeom>
          <a:solidFill>
            <a:srgbClr val="D4A24C"/>
          </a:solidFill>
          <a:ln w="25400">
            <a:solidFill>
              <a:srgbClr val="0033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9920" y="2651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058400" y="40233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7E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CENTRAFRIQUE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058400" y="4251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Bangui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58400" y="4617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486400"/>
            <a:ext cx="10972800" cy="731520"/>
          </a:xfrm>
          <a:prstGeom prst="roundRect">
            <a:avLst>
              <a:gd name="adj" fmla="val 12500"/>
            </a:avLst>
          </a:prstGeom>
          <a:solidFill>
            <a:srgbClr val="003366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5486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corridor énergétique le plus stratégique d'Afrique centrale.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  ·  Enerfrica — African Energy Holdings  ·  Strictement confidentiel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4A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FILIALES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présence stratégique sur trois pays.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entités opérationnelles — une seule gouvernance Enerfrica.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5236" y="2651760"/>
            <a:ext cx="3383280" cy="30175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9DE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5236" y="2651760"/>
            <a:ext cx="3383280" cy="9144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9" name="Shape 7"/>
          <p:cNvSpPr/>
          <p:nvPr/>
        </p:nvSpPr>
        <p:spPr>
          <a:xfrm>
            <a:off x="1019556" y="2971800"/>
            <a:ext cx="640080" cy="640080"/>
          </a:xfrm>
          <a:prstGeom prst="ellipse">
            <a:avLst/>
          </a:prstGeom>
          <a:solidFill>
            <a:srgbClr val="E6EDF4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9556" y="2971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19556" y="37490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EnerTchad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19556" y="42062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Tchad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19556" y="452628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Opérateur énergétique privé du Tchad. Upstream, downstream, distribution nationale — et exportation transfrontalière vers la RCA.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402836" y="2651760"/>
            <a:ext cx="3383280" cy="30175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9DE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02836" y="2651760"/>
            <a:ext cx="3383280" cy="9144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6" name="Shape 14"/>
          <p:cNvSpPr/>
          <p:nvPr/>
        </p:nvSpPr>
        <p:spPr>
          <a:xfrm>
            <a:off x="4677156" y="2971800"/>
            <a:ext cx="640080" cy="640080"/>
          </a:xfrm>
          <a:prstGeom prst="ellipse">
            <a:avLst/>
          </a:prstGeom>
          <a:solidFill>
            <a:srgbClr val="F7EFD9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77156" y="2971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77156" y="37490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Enercam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677156" y="42062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Cameroun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77156" y="452628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logistique et midstream du groupe. Importation Douala, transit Ngaoundéré, logistique transfrontalière tracée.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60436" y="2651760"/>
            <a:ext cx="3383280" cy="30175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9DE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60436" y="2651760"/>
            <a:ext cx="3383280" cy="91440"/>
          </a:xfrm>
          <a:prstGeom prst="rect">
            <a:avLst/>
          </a:prstGeom>
          <a:solidFill>
            <a:srgbClr val="2F7D4F"/>
          </a:solidFill>
          <a:ln/>
        </p:spPr>
      </p:sp>
      <p:sp>
        <p:nvSpPr>
          <p:cNvPr id="23" name="Shape 21"/>
          <p:cNvSpPr/>
          <p:nvPr/>
        </p:nvSpPr>
        <p:spPr>
          <a:xfrm>
            <a:off x="8334756" y="2971800"/>
            <a:ext cx="640080" cy="640080"/>
          </a:xfrm>
          <a:prstGeom prst="ellipse">
            <a:avLst/>
          </a:prstGeom>
          <a:solidFill>
            <a:srgbClr val="E1EDE6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34756" y="2971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CF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334756" y="37490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Enerca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334756" y="42062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Centrafrique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334756" y="452628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hydrocarbures en Centrafrique. Stations-service, solutions B2B (mines, BTP, transport).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  ·  Enerfrica — African Energy Holdings  ·  Strictement confidentiel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4A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FILIALE · TCHAD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EnerTchad — Opérateur énergétique national.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· Downstream · Distribution · Exportation RCA.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complète de la chaîne pétrolière tchadienne, avec une ambition d'intégration technologique (SCADA, IA réservoir, jumeaux numériques) qui place EnerTchad au niveau des standards des majors internationales.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265176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0033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2651760"/>
            <a:ext cx="2606040" cy="73152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28803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Upstream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32918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E&amp;P · Artificial Lift · EOR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15400" y="265176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0033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15400" y="2651760"/>
            <a:ext cx="2606040" cy="73152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4" name="Text 12"/>
          <p:cNvSpPr/>
          <p:nvPr/>
        </p:nvSpPr>
        <p:spPr>
          <a:xfrm>
            <a:off x="9098280" y="28803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Downstream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098280" y="32918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Raffinerie · GPL · lubrifiants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411480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0033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4114800"/>
            <a:ext cx="2606040" cy="73152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43434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47548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stations-service · 6 villes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915400" y="411480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0033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15400" y="4114800"/>
            <a:ext cx="2606040" cy="73152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22" name="Text 20"/>
          <p:cNvSpPr/>
          <p:nvPr/>
        </p:nvSpPr>
        <p:spPr>
          <a:xfrm>
            <a:off x="9098280" y="43434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RCA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098280" y="47548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Logistique transfrontalière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577840"/>
            <a:ext cx="2651760" cy="6858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623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144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kb/j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77240" y="5943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 Amont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29000" y="5577840"/>
            <a:ext cx="2651760" cy="6858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28" name="Text 26"/>
          <p:cNvSpPr/>
          <p:nvPr/>
        </p:nvSpPr>
        <p:spPr>
          <a:xfrm>
            <a:off x="3566160" y="5623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3566160" y="5943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Stations-service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5577840"/>
            <a:ext cx="2651760" cy="6858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5623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kb/j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355080" y="5943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Raffinerie Djermaya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006840" y="5577840"/>
            <a:ext cx="2651760" cy="6858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0" y="5623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9144000" y="5943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Bassins opérés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  ·  Enerfrica — African Energy Holdings  ·  Strictement confidentiel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4A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FILIALE · CAMEROUN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Enercam — Le point d'entrée énergétique de la région.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Importation · Transit · Logistique transfrontalière.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Enercam opère le point d'entrée unique du corridor Enerfrica. Tout flux hydrocarbures destiné au Tchad, à la RCA et à la zone CEMAC transite par nos plateformes logistiques Douala et Ngaoundéré.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265176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4A2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2651760"/>
            <a:ext cx="2606040" cy="73152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28803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32918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Hydrocarbures · produits raffinés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15400" y="265176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4A24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15400" y="2651760"/>
            <a:ext cx="2606040" cy="73152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4" name="Text 12"/>
          <p:cNvSpPr/>
          <p:nvPr/>
        </p:nvSpPr>
        <p:spPr>
          <a:xfrm>
            <a:off x="9098280" y="28803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Douala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098280" y="32918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central · port maritime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411480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4A24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4114800"/>
            <a:ext cx="2606040" cy="73152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43434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Ngaoundéré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47548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Nord · Sahel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915400" y="411480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4A24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15400" y="4114800"/>
            <a:ext cx="2606040" cy="73152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22" name="Text 20"/>
          <p:cNvSpPr/>
          <p:nvPr/>
        </p:nvSpPr>
        <p:spPr>
          <a:xfrm>
            <a:off x="9098280" y="43434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Traçabilité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098280" y="47548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 · IoT tout au long de la chaîne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577840"/>
            <a:ext cx="10972800" cy="640080"/>
          </a:xfrm>
          <a:prstGeom prst="roundRect">
            <a:avLst>
              <a:gd name="adj" fmla="val 14286"/>
            </a:avLst>
          </a:prstGeom>
          <a:solidFill>
            <a:srgbClr val="F7EFD9"/>
          </a:solidFill>
          <a:ln w="6350">
            <a:solidFill>
              <a:srgbClr val="D4A2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577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Sans maîtrise du Cameroun, pas de corridor. Enercam sécurise le premier maillon. »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  ·  Enerfrica — African Energy Holdings  ·  Strictement confidentiel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4A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FILIALE · CENTRAFRIQUE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Enerca — Distribution hydrocarbures en RCA.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Stations-service · entreprises · mines · BTP.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Enerca est l'opérateur de distribution B2C et B2B en Centrafrique. Approvisionné via le corridor Enerfrica (Cameroun → Tchad → RCA), Enerca apporte la fiabilité énergétique à un marché historiquement sous-servi.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265176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2F7D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2651760"/>
            <a:ext cx="2606040" cy="73152"/>
          </a:xfrm>
          <a:prstGeom prst="rect">
            <a:avLst/>
          </a:prstGeom>
          <a:solidFill>
            <a:srgbClr val="2F7D4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28803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Réception Tchad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32918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et route · flux certifié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15400" y="265176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2F7D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15400" y="2651760"/>
            <a:ext cx="2606040" cy="73152"/>
          </a:xfrm>
          <a:prstGeom prst="rect">
            <a:avLst/>
          </a:prstGeom>
          <a:solidFill>
            <a:srgbClr val="2F7D4F"/>
          </a:solidFill>
          <a:ln/>
        </p:spPr>
      </p:sp>
      <p:sp>
        <p:nvSpPr>
          <p:cNvPr id="14" name="Text 12"/>
          <p:cNvSpPr/>
          <p:nvPr/>
        </p:nvSpPr>
        <p:spPr>
          <a:xfrm>
            <a:off x="9098280" y="28803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Stockage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098280" y="32918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Dépôts Bangui + régions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411480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2F7D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4114800"/>
            <a:ext cx="2606040" cy="73152"/>
          </a:xfrm>
          <a:prstGeom prst="rect">
            <a:avLst/>
          </a:prstGeom>
          <a:solidFill>
            <a:srgbClr val="2F7D4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43434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Stations-service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47548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B2C en expansion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915400" y="411480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2F7D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15400" y="4114800"/>
            <a:ext cx="2606040" cy="73152"/>
          </a:xfrm>
          <a:prstGeom prst="rect">
            <a:avLst/>
          </a:prstGeom>
          <a:solidFill>
            <a:srgbClr val="2F7D4F"/>
          </a:solidFill>
          <a:ln/>
        </p:spPr>
      </p:sp>
      <p:sp>
        <p:nvSpPr>
          <p:cNvPr id="22" name="Text 20"/>
          <p:cNvSpPr/>
          <p:nvPr/>
        </p:nvSpPr>
        <p:spPr>
          <a:xfrm>
            <a:off x="9098280" y="43434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Solutions B2B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098280" y="47548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Mines · BTP · transport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  ·  Enerfrica — African Energy Holdings  ·  Strictement confidentiel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4A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EXPERTISES TRANSVERSALES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marques, un moteur de différenciation.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Capacités techniques qui se déploient à travers les trois filiales.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5236" y="2651760"/>
            <a:ext cx="3383280" cy="30175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9DE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5236" y="2651760"/>
            <a:ext cx="3383280" cy="9144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9" name="Shape 7"/>
          <p:cNvSpPr/>
          <p:nvPr/>
        </p:nvSpPr>
        <p:spPr>
          <a:xfrm>
            <a:off x="1019556" y="2971800"/>
            <a:ext cx="640080" cy="640080"/>
          </a:xfrm>
          <a:prstGeom prst="ellipse">
            <a:avLst/>
          </a:prstGeom>
          <a:solidFill>
            <a:srgbClr val="E6EDF4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9556" y="2971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◈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19556" y="37490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EnerTech™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19556" y="42062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 &amp; digital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19556" y="452628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SCADA, IoT, IA prédictive, Digital Twin, cybersécurité OT. Le socle d'excellence opérationnelle du groupe.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402836" y="2651760"/>
            <a:ext cx="3383280" cy="30175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9DE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02836" y="2651760"/>
            <a:ext cx="3383280" cy="91440"/>
          </a:xfrm>
          <a:prstGeom prst="rect">
            <a:avLst/>
          </a:prstGeom>
          <a:solidFill>
            <a:srgbClr val="2F7D4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77156" y="2971800"/>
            <a:ext cx="640080" cy="640080"/>
          </a:xfrm>
          <a:prstGeom prst="ellipse">
            <a:avLst/>
          </a:prstGeom>
          <a:solidFill>
            <a:srgbClr val="E1EDE6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77156" y="2971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77156" y="37490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GreenTech™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677156" y="42062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Énergies propres &amp; mini-grids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77156" y="452628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Solaire industriel, hybridation, mini-grids ruraux, Mobile Station™ Hybrid. Réduction CO₂ et accès énergie.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60436" y="2651760"/>
            <a:ext cx="3383280" cy="30175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9DE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60436" y="2651760"/>
            <a:ext cx="3383280" cy="9144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23" name="Shape 21"/>
          <p:cNvSpPr/>
          <p:nvPr/>
        </p:nvSpPr>
        <p:spPr>
          <a:xfrm>
            <a:off x="8334756" y="2971800"/>
            <a:ext cx="640080" cy="640080"/>
          </a:xfrm>
          <a:prstGeom prst="ellipse">
            <a:avLst/>
          </a:prstGeom>
          <a:solidFill>
            <a:srgbClr val="F7EFD9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34756" y="2971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◉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334756" y="37490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EnerServ™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334756" y="42062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industriels &amp; pétroliers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334756" y="452628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Drilling, Artificial Lift, Pipeline Integrity, HSE. Services partagés au groupe et à des tiers opérateurs.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  ·  Enerfrica — African Energy Holdings  ·  Strictement confidentiel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4A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 · ENERTECH™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Digitaliser l'énergie africaine.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hub technologique Enerfrica — R&amp;D, intégration, déploiement.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926080"/>
            <a:ext cx="457200" cy="457200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54480" y="2880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Twin™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33375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Jumeau numérique pipeline + champs + raffinerie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34840" y="265176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2926080"/>
            <a:ext cx="457200" cy="457200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49240" y="2880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SCADA &amp; IoT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49240" y="33375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12 840 capteurs · temps réel 24/7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0" y="265176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03920" y="2926080"/>
            <a:ext cx="457200" cy="457200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0" y="2880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Predictive™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0" y="33375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pannes + optimisation débits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29768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4572000"/>
            <a:ext cx="457200" cy="457200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54480" y="4526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 OT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554480" y="4983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62443 · zero-trust · SOC dédié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434840" y="429768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4572000"/>
            <a:ext cx="457200" cy="457200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29" name="Text 27"/>
          <p:cNvSpPr/>
          <p:nvPr/>
        </p:nvSpPr>
        <p:spPr>
          <a:xfrm>
            <a:off x="470916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49240" y="4526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EOR Lab™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49240" y="4983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Formulations polymères/surfactants propriétaires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  ·  Enerfrica — African Energy Holdings  ·  Strictement confidentiel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4A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 · GREENTECH™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Energy &amp; Mini-Grids.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Énergies renouvelables au service des opérations pétrolières et des communautés.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54406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651760"/>
            <a:ext cx="5440680" cy="73152"/>
          </a:xfrm>
          <a:prstGeom prst="rect">
            <a:avLst/>
          </a:prstGeom>
          <a:solidFill>
            <a:srgbClr val="2F7D4F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3063240"/>
            <a:ext cx="640080" cy="640080"/>
          </a:xfrm>
          <a:prstGeom prst="ellipse">
            <a:avLst/>
          </a:prstGeom>
          <a:solidFill>
            <a:srgbClr val="E1EDE6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063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737360" y="29718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SolarField™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737360" y="342900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Solaire industriel · stations + sites isolés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2651760"/>
            <a:ext cx="54406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2651760"/>
            <a:ext cx="5440680" cy="73152"/>
          </a:xfrm>
          <a:prstGeom prst="rect">
            <a:avLst/>
          </a:prstGeom>
          <a:solidFill>
            <a:srgbClr val="2F7D4F"/>
          </a:solidFill>
          <a:ln/>
        </p:spPr>
      </p:sp>
      <p:sp>
        <p:nvSpPr>
          <p:cNvPr id="15" name="Shape 13"/>
          <p:cNvSpPr/>
          <p:nvPr/>
        </p:nvSpPr>
        <p:spPr>
          <a:xfrm>
            <a:off x="6492240" y="3063240"/>
            <a:ext cx="640080" cy="640080"/>
          </a:xfrm>
          <a:prstGeom prst="ellipse">
            <a:avLst/>
          </a:prstGeom>
          <a:solidFill>
            <a:srgbClr val="E1EDE6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3063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315200" y="29718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HybridGrid™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315200" y="342900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Hybridation diesel-solaire intelligente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343400"/>
            <a:ext cx="54406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343400"/>
            <a:ext cx="5440680" cy="73152"/>
          </a:xfrm>
          <a:prstGeom prst="rect">
            <a:avLst/>
          </a:prstGeom>
          <a:solidFill>
            <a:srgbClr val="2F7D4F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4754880"/>
            <a:ext cx="640080" cy="640080"/>
          </a:xfrm>
          <a:prstGeom prst="ellipse">
            <a:avLst/>
          </a:prstGeom>
          <a:solidFill>
            <a:srgbClr val="E1EDE6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754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737360" y="46634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Mini-grids rurales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737360" y="512064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Électrification villages enclavés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0" y="4343400"/>
            <a:ext cx="54406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4343400"/>
            <a:ext cx="5440680" cy="73152"/>
          </a:xfrm>
          <a:prstGeom prst="rect">
            <a:avLst/>
          </a:prstGeom>
          <a:solidFill>
            <a:srgbClr val="2F7D4F"/>
          </a:solidFill>
          <a:ln/>
        </p:spPr>
      </p:sp>
      <p:sp>
        <p:nvSpPr>
          <p:cNvPr id="27" name="Shape 25"/>
          <p:cNvSpPr/>
          <p:nvPr/>
        </p:nvSpPr>
        <p:spPr>
          <a:xfrm>
            <a:off x="6492240" y="4754880"/>
            <a:ext cx="640080" cy="640080"/>
          </a:xfrm>
          <a:prstGeom prst="ellipse">
            <a:avLst/>
          </a:prstGeom>
          <a:solidFill>
            <a:srgbClr val="E1EDE6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4754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315200" y="46634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Station™ Hybrid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7315200" y="512064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carburant + solaire containerisée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2030 : 125 MW installés · 42 kt CO₂ évité/an · 28 mini-grids villageois.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  ·  Enerfrica — African Energy Holdings  ·  Strictement confidentiel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4A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 · ENERSERV™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Industrial Services.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oilfield intégrés, opérés avec les standards des majors internationales.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54406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651760"/>
            <a:ext cx="91440" cy="150876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880360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Drilling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3429000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Forage directionnel · complétions intelligentes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2651760"/>
            <a:ext cx="54406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2651760"/>
            <a:ext cx="91440" cy="150876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2880360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Lift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37960" y="3429000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 · gas-lift · optimisation débits matures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343400"/>
            <a:ext cx="54406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343400"/>
            <a:ext cx="91440" cy="150876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572000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Integrity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60120" y="5120640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ILI, pigging, API 1160 · drones thermiques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4343400"/>
            <a:ext cx="54406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4343400"/>
            <a:ext cx="91440" cy="150876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572000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HSE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537960" y="5120640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45001 · ISO 14001 · zero-harm culture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Disponibles en mode intra-groupe ET en prestation à des opérateurs tiers sous contrat.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  ·  Enerfrica — African Energy Holdings  ·  Strictement confidentiel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4A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ENGAGEMENT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Fiabilité. Sécurité. Performance.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trois piliers non-négociables de l'approche Enerfrica.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724912"/>
            <a:ext cx="274320" cy="50292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697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STANDARDS OHADA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0" y="269748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Société anonyme à Conseil d'administration, reporting IFRS.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410712"/>
            <a:ext cx="274320" cy="50292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383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TRAÇABILITÉ COMPLÈTE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89120" y="338328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l'importation à la distribution, chaque litre est tracé (SCADA + IoT).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096512"/>
            <a:ext cx="274320" cy="50292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4069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SÉCURITÉ OPÉRATIONNELLE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0" y="406908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45001, API RP 75, IEC 62443. Audits tiers systématiques.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782312"/>
            <a:ext cx="274320" cy="50292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4754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GOUVERNANCE MODERNE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89120" y="475488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 d'administration, comités spécialisés, administrateurs indépendants.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468112"/>
            <a:ext cx="274320" cy="50292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5440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APPROCHE APOLITIQUE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89120" y="544068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privé, décisions commerciales, relations institutionnelles transparentes.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  ·  Enerfrica — African Energy Holdings  ·  Strictement confidentiel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4A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OPPORTUNITÉS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marché en croissance structurelle.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L'Afrique centrale cumule 6 vents porteurs pour un opérateur énergétique privé intégré.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9DE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651760"/>
            <a:ext cx="3566160" cy="73152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8346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+3,5 %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14400" y="3474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Demande énergétique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7947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 annuelle régionale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89120" y="265176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9DE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2651760"/>
            <a:ext cx="3566160" cy="73152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28346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+2,6 %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663440" y="3474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Démographie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63440" y="37947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CEMAC, horizon 2030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38160" y="265176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9DE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2651760"/>
            <a:ext cx="3566160" cy="73152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0" y="28346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+5,0 %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412480" y="3474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Urbanisation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0" y="37947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annuel moyen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438912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9DE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389120"/>
            <a:ext cx="3566160" cy="73152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5720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73 %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914400" y="5212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Déficit énergétique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5532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sans accès fiable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389120" y="438912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9DE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89120" y="4389120"/>
            <a:ext cx="3566160" cy="73152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45720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Md$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4663440" y="5212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Investissements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663440" y="5532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infra Afrique centrale/an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138160" y="438912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9DE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38160" y="4389120"/>
            <a:ext cx="3566160" cy="73152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34" name="Text 32"/>
          <p:cNvSpPr/>
          <p:nvPr/>
        </p:nvSpPr>
        <p:spPr>
          <a:xfrm>
            <a:off x="8412480" y="45720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8412480" y="5212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Marchés ciblés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412480" y="5532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voisins à ouvrir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  ·  Enerfrica — African Energy Holdings  ·  Strictement confidentiel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4A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Notre ambition panafricaine.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corridor Cameroun-Tchad-RCA est le socle. Voici la trajectoire à 5-7 ans.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5029200" cy="3474720"/>
          </a:xfrm>
          <a:prstGeom prst="roundRect">
            <a:avLst>
              <a:gd name="adj" fmla="val 2632"/>
            </a:avLst>
          </a:prstGeom>
          <a:solidFill>
            <a:srgbClr val="00336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432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MARCHÉS ANCRES (2026)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Corridor principal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22960" y="3794760"/>
            <a:ext cx="274320" cy="274320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37490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Cameroun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41148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Enercam · importation &amp; transit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4526280"/>
            <a:ext cx="274320" cy="274320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44805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Tchad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4846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EnerTchad · opérateur national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5257800"/>
            <a:ext cx="274320" cy="274320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17" name="Text 15"/>
          <p:cNvSpPr/>
          <p:nvPr/>
        </p:nvSpPr>
        <p:spPr>
          <a:xfrm>
            <a:off x="1234440" y="52120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Centrafrique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5577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Enerca · distribution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0" y="2651760"/>
            <a:ext cx="566928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27432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MARCHÉS CIBLES (2027-2031)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26480" y="30175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Expansion panafricaine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126480" y="36576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Congo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26480" y="3977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+ distribution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823960" y="36576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Niger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823960" y="3977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Midstream transit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26480" y="4480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Gabon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26480" y="48006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aux majors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823960" y="4480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Soudan du Sud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823960" y="48006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early-stage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26480" y="5303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Autres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126480" y="5623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Marchés CEMAC opportunistes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  ·  Enerfrica — African Energy Holdings  ·  Strictement confidentiel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26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ENTRER EN RELATION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Discutons d'un partenariat stratégique.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Enerfrica — African Energy Holdings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73152" cy="118872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200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contact@enerfrica.africa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931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+237 — à compléter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3200400"/>
            <a:ext cx="73152" cy="118872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3200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SIÈGE GROUPE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17720" y="3520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Douala, Cameroun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3931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N'Djamena (bureau Tchad)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38160" y="3200400"/>
            <a:ext cx="73152" cy="118872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3200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FILIALES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66760" y="3520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EnerTchad · Enercam · Enerca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66760" y="3931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Sites dédiés par pays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5029200"/>
            <a:ext cx="10972800" cy="1005840"/>
          </a:xfrm>
          <a:prstGeom prst="roundRect">
            <a:avLst>
              <a:gd name="adj" fmla="val 9091"/>
            </a:avLst>
          </a:prstGeom>
          <a:solidFill>
            <a:srgbClr val="D4A24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0292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0026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Discutons d'un partenariat stratégique. »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0080" y="54864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partnerships@enerfrica.africa  ·  Réponse sous 48 h ouvrées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Enerfrica — African Energy Holdings  ·  Strictement confidentiel  ·  17 /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Enerfrica — African Energy Holdings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Enerfrica — Pitch Deck</dc:title>
  <dc:subject>PptxGenJS Presentation</dc:subject>
  <dc:creator>PptxGenJS</dc:creator>
  <cp:lastModifiedBy>PptxGenJS</cp:lastModifiedBy>
  <cp:revision>1</cp:revision>
  <dcterms:created xsi:type="dcterms:W3CDTF">2026-04-24T08:05:01Z</dcterms:created>
  <dcterms:modified xsi:type="dcterms:W3CDTF">2026-04-24T08:05:01Z</dcterms:modified>
</cp:coreProperties>
</file>