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36576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ENERTCHAD GROUPE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Optimisation</a:t>
            </a:r>
          </a:p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des champs mâtures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E86DE"/>
                </a:solidFill>
                <a:latin typeface="Calibri"/>
              </a:rPr>
              <a:t>H₂O₂ et technologies de récupération avancée — Synthèse CODIR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ECF2"/>
                </a:solidFill>
                <a:latin typeface="Calibri"/>
              </a:rPr>
              <a:t>Direction Amont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A7"/>
                </a:solidFill>
                <a:latin typeface="Calibri"/>
              </a:rPr>
              <a:t>ETG-NT-AMONT-2026-004 — 20 avril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669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Confidentiel CODIR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Déroulé de la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E86D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Contexte — pourquoi les champs mâtures sont stratégiques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9A84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Huile en place résiduelle — 2,3 Gbbl à portée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E86DE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Catalogue des leviers IOR/EOR — matrice décisionnelle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Focus H₂O₂ — oxydant propre, ROI sous 90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A5E9"/>
                </a:solidFill>
                <a:latin typeface="Calibr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Stack digital — digital twin + IA + intelligent completions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9A84F"/>
                </a:solidFill>
                <a:latin typeface="Calibr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Benchmark majors — ce que ExxonMobil, Aramco, Equinor font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E86DE"/>
                </a:solidFill>
                <a:latin typeface="Calibr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Applicabilité par bassin — Doba, Bongor, Doseo, Salamat, Termit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B981"/>
                </a:solidFill>
                <a:latin typeface="Calibr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26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Roadmap 2026-2030 + économie (VAN10 5,2 Md$)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9A84F"/>
                </a:solidFill>
                <a:latin typeface="Calibri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3 décisions CODIR — fenêtre 60 jours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01 — THÈSE STRATÉGIQUE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30-35 % aujourd'hui → 48 % en 2032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E8ECF2"/>
                </a:solidFill>
                <a:latin typeface="Calibri"/>
              </a:rPr>
              <a:t>Les bassins EnerTchad produisent avec un taux de récupération primaire moyen de 30–35 %, bien en deçà du potentiel mondial (42–55 % sur grès analogues). Chaque point de récupération additionnel représente ≈ 15 Mbbl et ≈ 1 Md USD de revenus.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1752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2194560" cy="73152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+13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9A84F"/>
                </a:solidFill>
                <a:latin typeface="Calibri"/>
              </a:rPr>
              <a:t>Récupération cible 2032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8A94A7"/>
                </a:solidFill>
                <a:latin typeface="Calibri"/>
              </a:rPr>
              <a:t>vs. 30-35 % actuel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01752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3017520"/>
            <a:ext cx="2194560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195 Mbbl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E86DE"/>
                </a:solidFill>
                <a:latin typeface="Calibri"/>
              </a:rPr>
              <a:t>Incrémentaux cumulés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251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8A94A7"/>
                </a:solidFill>
                <a:latin typeface="Calibri"/>
              </a:rPr>
              <a:t>2026-2034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301752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3017520"/>
            <a:ext cx="2194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246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5,2 Md$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0B981"/>
                </a:solidFill>
                <a:latin typeface="Calibri"/>
              </a:rPr>
              <a:t>VAN10 consolidée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251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8A94A7"/>
                </a:solidFill>
                <a:latin typeface="Calibri"/>
              </a:rPr>
              <a:t>WACC 10% • 70 $/bbl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01752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3017520"/>
            <a:ext cx="21945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246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23 %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EA5E9"/>
                </a:solidFill>
                <a:latin typeface="Calibri"/>
              </a:rPr>
              <a:t>IRR projet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251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8A94A7"/>
                </a:solidFill>
                <a:latin typeface="Calibri"/>
              </a:rPr>
              <a:t>21% @ 60$ • 28% @ 80$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301752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3017520"/>
            <a:ext cx="2194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246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900 M$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CAPEX 5 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4251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8A94A7"/>
                </a:solidFill>
                <a:latin typeface="Calibri"/>
              </a:rPr>
              <a:t>62 % sur Doba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11338560" cy="1280160"/>
          </a:xfrm>
          <a:prstGeom prst="rect">
            <a:avLst/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029200"/>
            <a:ext cx="64008" cy="128016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389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9A84F"/>
                </a:solidFill>
                <a:latin typeface="Calibri"/>
              </a:rPr>
              <a:t>Thèse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46811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Séquencer avec discipline : waterflood optimisé → ASP locale → CCUS/CO₂ EOR → stimulations H₂O₂ → intelligent completions. La réussite tient dans le phasage et dans la qualité de l'apprentissage pilote, pas dans l'audace technologique.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02 — HUILE EN PLACE RÉSIDUELLE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2,28 Gbbl à portée — dont 1,58 sur mâtures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280160"/>
                <a:gridCol w="1280160"/>
                <a:gridCol w="1554480"/>
                <a:gridCol w="21031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Bassin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OOIP (2P)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Récup. prim.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ROIP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Potentiel EOR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Doba — Kome / Miandoum / Bolobo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Brownfield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1,5 Gbbl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33 %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≈ 1,00 Gbbl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+140 Mbbl (10 pts)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Bongor — Ronier / Mimosa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Brut lourd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0,8 Gbbl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28 %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≈ 0,58 Gbbl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+55 Mbbl (10 pts)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Doseo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Greenfield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0,4 Gbbl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0,40 Gbbl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+80 Mbbl design-ready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Salamat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Greenfield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0,3 Gbbl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0,30 Gbbl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+60 Mbbl design-ready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Termit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Frontière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0,3 Gbbl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0,30 Gbbl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8ECF2"/>
                          </a:solidFill>
                          <a:latin typeface="Calibri"/>
                        </a:rPr>
                        <a:t>à qualifier 3D sismique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D9A84F"/>
                          </a:solidFill>
                          <a:latin typeface="Calibri"/>
                        </a:rPr>
                        <a:t>Total Groupe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D9A84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D9A84F"/>
                          </a:solidFill>
                          <a:latin typeface="Calibri"/>
                        </a:rPr>
                        <a:t>3,3 Gbbl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D9A84F"/>
                          </a:solidFill>
                          <a:latin typeface="Calibri"/>
                        </a:rPr>
                        <a:t>~32 %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D9A84F"/>
                          </a:solidFill>
                          <a:latin typeface="Calibri"/>
                        </a:rPr>
                        <a:t>≈ 2,58 Gbbl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D9A84F"/>
                          </a:solidFill>
                          <a:latin typeface="Calibri"/>
                        </a:rPr>
                        <a:t>≈ 195 Mbbl incrémentaux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E8ECF2"/>
                </a:solidFill>
                <a:latin typeface="Calibri"/>
              </a:rPr>
              <a:t>Doba + Bongor concentrent 77 % du potentiel incrémental court terme (195 Mbbl d'ici 2034). Les greenfields doivent être conçus EOR-ready dès la phase de FEED (+12-18 % CAPEX initial pour un gain de 12-15 pts de récupération à terme).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03 — CATALOGUE DES LEVIERS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Matrice technique : levier × fenêtre × gain × coût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1554480"/>
                <a:gridCol w="1463040"/>
                <a:gridCol w="27432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Technologie</a:t>
                      </a:r>
                    </a:p>
                  </a:txBody>
                  <a:tcPr marL="73152" marR="73152" marT="36576" marB="36576">
                    <a:solidFill>
                      <a:srgbClr val="2E86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Fenêtre applicable</a:t>
                      </a:r>
                    </a:p>
                  </a:txBody>
                  <a:tcPr marL="73152" marR="73152" marT="36576" marB="36576">
                    <a:solidFill>
                      <a:srgbClr val="2E86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Gain récup.</a:t>
                      </a:r>
                    </a:p>
                  </a:txBody>
                  <a:tcPr marL="73152" marR="73152" marT="36576" marB="36576">
                    <a:solidFill>
                      <a:srgbClr val="2E86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Coût incr.</a:t>
                      </a:r>
                    </a:p>
                  </a:txBody>
                  <a:tcPr marL="73152" marR="73152" marT="36576" marB="36576">
                    <a:solidFill>
                      <a:srgbClr val="2E86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Cible EnerTchad</a:t>
                      </a:r>
                    </a:p>
                  </a:txBody>
                  <a:tcPr marL="73152" marR="73152" marT="36576" marB="36576">
                    <a:solidFill>
                      <a:srgbClr val="2E86D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Waterflood+ &amp; PLT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k&gt;50 mD, Sw&lt;55 %, µ&lt;10 cP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+8–12 pts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2–5 $/bbl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Doba toutes zones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Polymer (HPAM/bio)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k 50–2000 mD, µ 10–100 cP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+5–15 pts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4–8 $/bbl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Bongor Ronier-M1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ASP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TAN&gt;0,3, k&gt;100 mD, T&lt;95 °C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+8–20 pts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8–14 $/bbl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Doba Miandoum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Thermal (CSS/SAGD)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µ&gt;100 cP, h&gt;10 m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+15–35 pts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12–22 $/bbl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Bongor Mimosa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CO₂ miscible / WAG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P&gt;MMP ≈ 180 bar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+7–15 pts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9–18 $/bbl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Doba Bolobo (deep)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9A84F"/>
                          </a:solidFill>
                          <a:latin typeface="Calibri"/>
                        </a:rPr>
                        <a:t>H₂O₂ stimulation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9A84F"/>
                          </a:solidFill>
                          <a:latin typeface="Calibri"/>
                        </a:rPr>
                        <a:t>Damage, H₂S, paraffines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9A84F"/>
                          </a:solidFill>
                          <a:latin typeface="Calibri"/>
                        </a:rPr>
                        <a:t>+3–10 pts local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9A84F"/>
                          </a:solidFill>
                          <a:latin typeface="Calibri"/>
                        </a:rPr>
                        <a:t>1–4 $/bbl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9A84F"/>
                          </a:solidFill>
                          <a:latin typeface="Calibri"/>
                        </a:rPr>
                        <a:t>Puits ciblés Doba/Bongor</a:t>
                      </a:r>
                    </a:p>
                  </a:txBody>
                  <a:tcPr marL="73152" marR="73152" marT="36576" marB="36576">
                    <a:solidFill>
                      <a:srgbClr val="2A231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MEOR (bactéries)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T&lt;85 °C, salinité modérée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+3–8 pts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2–5 $/bbl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Pilote Doba (sourcing TCD)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69280"/>
            <a:ext cx="11338560" cy="685800"/>
          </a:xfrm>
          <a:prstGeom prst="rect">
            <a:avLst/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669280"/>
            <a:ext cx="64008" cy="6858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790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9A84F"/>
                </a:solidFill>
                <a:latin typeface="Calibri"/>
              </a:rPr>
              <a:t>Règle d'or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08192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Séquencer d'abord waterflood optimisé avant tout cEOR. Investir en monitoring (PLT, DTS, DAS, tracers) avant d'investir en EOR — le modèle réservoir dicte la stratégie, pas l'inverse.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04 — FOCUS H₂O₂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Oxydant propre, ROI &lt;90 jours, &lt;200 k$/puits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A84F"/>
                </a:solidFill>
                <a:latin typeface="Calibri"/>
              </a:rPr>
              <a:t>Pourquoi maintenant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6692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Radicaux •OH — dégradent paraffines, asphaltènes, biofilms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Libération d'O₂ — initie matrix oxidation in-situ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Produit final : eau — pas de résidu chimique lourd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Déployable puits-par-puits en 3-7 jours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Oxydant « propre » alignement HSE moderne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Catalyseurs Fe(III)-EDTA permettent initiation différée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Conversion H₂S en S⁰ ou SO₄²⁻ — alternative aux amines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E8ECF2"/>
                </a:solidFill>
                <a:latin typeface="Calibri"/>
              </a:rPr>
              <a:t>• Hybride H₂O₂ + vapeur prolonge chaleur utile +30-50 %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A84F"/>
                </a:solidFill>
                <a:latin typeface="Calibri"/>
              </a:rPr>
              <a:t>Cas d'usage &amp; performance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65960"/>
          <a:ext cx="57607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371600"/>
                <a:gridCol w="8229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080E1A"/>
                          </a:solidFill>
                          <a:latin typeface="Calibri"/>
                        </a:rPr>
                        <a:t>Cas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080E1A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080E1A"/>
                          </a:solidFill>
                          <a:latin typeface="Calibri"/>
                        </a:rPr>
                        <a:t>Coût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080E1A"/>
                          </a:solidFill>
                          <a:latin typeface="Calibri"/>
                        </a:rPr>
                        <a:t>TTI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Paraffines/asphaltènes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+25-70 %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80-180 k$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&lt;90 j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Biofilms / SRB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+10-30 %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50-120 k$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30 j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Contrôle H₂S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−60-95 %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120-300 k$/an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Continu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Scale inorganique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+15-40 %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60-140 k$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60 j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Matrix oxidation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+3-10 pts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200-500 k$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12-24 mo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H₂O₂ + vapeur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+15-25 %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+8 % CSS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6-18 mo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Eaux produites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−85 % COT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2-4 $/m³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8ECF2"/>
                          </a:solidFill>
                          <a:latin typeface="Calibri"/>
                        </a:rPr>
                        <a:t>Immédiat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943600"/>
            <a:ext cx="11338560" cy="594360"/>
          </a:xfrm>
          <a:prstGeom prst="rect">
            <a:avLst/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943600"/>
            <a:ext cx="64008" cy="5943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0533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E86DE"/>
                </a:solidFill>
                <a:latin typeface="Calibri"/>
              </a:rPr>
              <a:t>Paradigme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82512"/>
            <a:ext cx="1106424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Le H₂O₂ n'est PAS un substitut au waterflood ou à l'ASP. C'est un complément tactique well-level, à coût &lt; 200 k$/puits.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04 — PILOTE H₂O₂ DOBA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Q3 2026 — 3 puits, 3,8 M$, 3 cas d'usage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3385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4846320"/>
                <a:gridCol w="29260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Puits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Cas d'usage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Protocole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080E1A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marL="73152" marR="73152" marT="36576" marB="36576">
                    <a:solidFill>
                      <a:srgbClr val="D9A84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DBM-14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Dépôts paraffines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H₂O₂ 10 % + surfactant biodégradable,
72 h résidence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PLT avant/après, profils T°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DBM-27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Contrôle H₂S (actuel 45 ppm)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Injection continue 0,5 % wt,
sur 6 mois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Échantillons fluides mensuels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DBM-33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Matrix oxidation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H₂O₂ 15 % + catalyseur Fe(III)-EDTA,
activation retardée 60 min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Tracer chimique + fibre DTS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A84F"/>
                </a:solidFill>
                <a:latin typeface="Calibri"/>
              </a:rPr>
              <a:t>Budget pilote — 3,8 M USD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66344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E86DE"/>
                </a:solidFill>
                <a:latin typeface="Calibri"/>
              </a:rPr>
              <a:t>1,1 M$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E8ECF2"/>
                </a:solidFill>
                <a:latin typeface="Calibri"/>
              </a:rPr>
              <a:t>Produits chimiques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466344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7548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A5E9"/>
                </a:solidFill>
                <a:latin typeface="Calibri"/>
              </a:rPr>
              <a:t>0,9 M$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2120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E8ECF2"/>
                </a:solidFill>
                <a:latin typeface="Calibri"/>
              </a:rPr>
              <a:t>Logistique + 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466344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47548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B981"/>
                </a:solidFill>
                <a:latin typeface="Calibri"/>
              </a:rPr>
              <a:t>0,8 M$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2120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E8ECF2"/>
                </a:solidFill>
                <a:latin typeface="Calibri"/>
              </a:rPr>
              <a:t>Monitoring + analyses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466344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47548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97706"/>
                </a:solidFill>
                <a:latin typeface="Calibri"/>
              </a:rPr>
              <a:t>1,0 M$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52120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E8ECF2"/>
                </a:solidFill>
                <a:latin typeface="Calibri"/>
              </a:rPr>
              <a:t>Réserve aléas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206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A84F"/>
                </a:solidFill>
                <a:latin typeface="Calibri"/>
              </a:rPr>
              <a:t>Partenaires pressentis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63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6634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Kemira / Solvay Peroxides — fourniture H₂O₂ pétrolier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56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9560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Arkema — catalyseurs spécialisés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52486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IFP Énergies Nouvelles — protocoles laboratoire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541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54126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SLB ChampionX — surfactants compagnons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833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833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Univ. N'Djamena — suivi géochimique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05 — STACK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Digital twin + IA prédictive + intelligent completions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7033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Digital Twin réservoir +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CMG STARS / Eclipse 300 — modèle 3D 50×50×2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AVEVA PI / OSIsoft + Siemens XHQ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History matching automatisé trimestriel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Impact : +3-7 % prod. sans CAPEX additionnel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691640"/>
            <a:ext cx="370332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874519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E86DE"/>
                </a:solidFill>
                <a:latin typeface="Calibri"/>
              </a:rPr>
              <a:t>IA prédictive opérationnelle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86DE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146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Prédiction water breakthrough — LSTM + bayésien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86DE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46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Optimisation gas/ESP lift — RL (+2-5 % prod.)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776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86DE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Détection anomalies — Isolation Forest (−45 % downtime)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709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86DE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7091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ASP chemical dosing — MPC (−12 % conso)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16916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874519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Intelligent completions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5146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ICV — fermeture distance zones water cut (12 puits Doba)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246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AICD — atténuation naturelle eau/gaz breakthrough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776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Fiber-optic DTS/DAS — profils T°, détection leaks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709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7091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Downhole chemical mandrel — dosage H₂O₂ continu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080760"/>
            <a:ext cx="11338560" cy="502920"/>
          </a:xfrm>
          <a:prstGeom prst="rect">
            <a:avLst/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6080760"/>
            <a:ext cx="64008" cy="50292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1904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9A84F"/>
                </a:solidFill>
                <a:latin typeface="Calibri"/>
              </a:rPr>
              <a:t>Budget digital 5 ans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519672"/>
            <a:ext cx="1106424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Licences 1,8 M$/an • CAPEX digital twin + SCADA 10,0 M$ • MLOps + Edge 3,0 M$ • Cybersec OT 0,7 M$/an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06 — BENCHMARK MAJORS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Ce qu'ils font sur leurs propres champs mâtures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3385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3931920"/>
                <a:gridCol w="31089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D9A84F"/>
                          </a:solidFill>
                          <a:latin typeface="Calibri"/>
                        </a:rPr>
                        <a:t>Opérateur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D9A84F"/>
                          </a:solidFill>
                          <a:latin typeface="Calibri"/>
                        </a:rPr>
                        <a:t>Terrain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D9A84F"/>
                          </a:solidFill>
                          <a:latin typeface="Calibri"/>
                        </a:rPr>
                        <a:t>Stack clé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D9A84F"/>
                          </a:solidFill>
                          <a:latin typeface="Calibri"/>
                        </a:rPr>
                        <a:t>Performance publiée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ExxonMobil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Nigéria, Texas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CO₂ EOR + digital twin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+9-15 pts, CAPEX 4-7 $/bbl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Saudi Aramco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Ghawar (60+ ans)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Waterflood intelligent + cEOR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≈ 65 % récup. ultime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Shell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Groningen, Ogan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Polymer + compression + PLT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+11 pts moyen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Equinor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Statfjord, Gullfaks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WAG + subsea boosting + twin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+14 pts depuis 50 %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Petrobras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Pre-sal Campos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Gas lift + SS-AICD + polymer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+8-12 pts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TotalEnergies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Hassi Messaoud, CLOV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CO₂ EOR + smart wells + fiber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+10 pts Hassi</a:t>
                      </a:r>
                    </a:p>
                  </a:txBody>
                  <a:tcPr marL="73152" marR="73152" marT="36576" marB="36576">
                    <a:solidFill>
                      <a:srgbClr val="18223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KOC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Burgan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Steam + hybrid chemical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8ECF2"/>
                          </a:solidFill>
                          <a:latin typeface="Calibri"/>
                        </a:rPr>
                        <a:t>+18 pts projeté</a:t>
                      </a:r>
                    </a:p>
                  </a:txBody>
                  <a:tcPr marL="73152" marR="73152" marT="36576" marB="36576"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Enseignements transposables à EnerTchad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120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86DE"/>
                </a:solidFill>
                <a:latin typeface="Calibri"/>
              </a:rPr>
              <a:t>Séquencer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Waterflood+ AVANT cEOR. Tentation « tout-cEOR » néfaste.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2120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86DE"/>
                </a:solidFill>
                <a:latin typeface="Calibri"/>
              </a:rPr>
              <a:t>Monitorer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Investir PLT/DTS/DAS/tracers AVANT d'investir en EOR.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2120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86DE"/>
                </a:solidFill>
                <a:latin typeface="Calibri"/>
              </a:rPr>
              <a:t>Piloter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4864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Toujours 3-6 puits 12-24 mois avant tout rollout industriel.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86DE"/>
                </a:solidFill>
                <a:latin typeface="Calibri"/>
              </a:rPr>
              <a:t>Diversifier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17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Supply chain chimique : triple fournisseur, stock 18 mois.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9436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86DE"/>
                </a:solidFill>
                <a:latin typeface="Calibri"/>
              </a:rPr>
              <a:t>Cibler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6217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Intelligent completions sur puits à fort potentiel, pas en masse.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9436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86DE"/>
                </a:solidFill>
                <a:latin typeface="Calibri"/>
              </a:rPr>
              <a:t>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6217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8ECF2"/>
                </a:solidFill>
                <a:latin typeface="Calibri"/>
              </a:rPr>
              <a:t>1 $ formation = 4-7 $ évités en expat + rétention savoir.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07 — ROADMAP 2026-2030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Jalons séquencés +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657600"/>
            <a:ext cx="11155680" cy="20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0026" y="3547872"/>
            <a:ext cx="256032" cy="256032"/>
          </a:xfrm>
          <a:prstGeom prst="ellipse">
            <a:avLst/>
          </a:prstGeom>
          <a:solidFill>
            <a:srgbClr val="2E86DE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514" y="1645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E86DE"/>
                </a:solidFill>
                <a:latin typeface="Calibri"/>
              </a:rP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14" y="20574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PVT+SCAL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exhaustif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514" y="3108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2,1 M$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4754" y="3017520"/>
            <a:ext cx="100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3694" y="3547872"/>
            <a:ext cx="256032" cy="256032"/>
          </a:xfrm>
          <a:prstGeom prst="ellipse">
            <a:avLst/>
          </a:prstGeom>
          <a:solidFill>
            <a:srgbClr val="D9A84F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6182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9A84F"/>
                </a:solidFill>
                <a:latin typeface="Calibri"/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6182" y="41148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Pilotes H₂O₂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+ ASP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6182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6,4 M$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8422" y="3657600"/>
            <a:ext cx="10000" cy="4572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77363" y="354787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9851" y="1645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9851" y="20574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Pilote CSS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Bongor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9851" y="3108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22 M$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2091" y="3017520"/>
            <a:ext cx="1000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71032" y="3547872"/>
            <a:ext cx="256032" cy="256032"/>
          </a:xfrm>
          <a:prstGeom prst="ellipse">
            <a:avLst/>
          </a:prstGeom>
          <a:solidFill>
            <a:srgbClr val="0EA5E9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EA5E9"/>
                </a:solidFill>
                <a:latin typeface="Calibri"/>
              </a:rPr>
              <a:t>H1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148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12 intelligent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completions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14 M$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5760" y="3657600"/>
            <a:ext cx="100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4700" y="3547872"/>
            <a:ext cx="256032" cy="256032"/>
          </a:xfrm>
          <a:prstGeom prst="ellipse">
            <a:avLst/>
          </a:prstGeom>
          <a:solidFill>
            <a:srgbClr val="D9A84F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7188" y="1645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9A84F"/>
                </a:solidFill>
                <a:latin typeface="Calibri"/>
              </a:rPr>
              <a:t>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7188" y="20574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Rollout ASP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+ FEED SAGD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7188" y="3108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103 M$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69428" y="3017520"/>
            <a:ext cx="10000" cy="64008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58369" y="3547872"/>
            <a:ext cx="256032" cy="256032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0857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0B981"/>
                </a:solidFill>
                <a:latin typeface="Calibri"/>
              </a:rPr>
              <a:t>2029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0857" y="41148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First SAGD oil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+ CCUS pilote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0857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240 M$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63097" y="3657600"/>
            <a:ext cx="100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52037" y="3547872"/>
            <a:ext cx="256032" cy="256032"/>
          </a:xfrm>
          <a:prstGeom prst="ellipse">
            <a:avLst/>
          </a:prstGeom>
          <a:solidFill>
            <a:srgbClr val="2E86DE"/>
          </a:solidFill>
          <a:ln w="19050">
            <a:solidFill>
              <a:srgbClr val="08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4525" y="1645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E86DE"/>
                </a:solidFill>
                <a:latin typeface="Calibri"/>
              </a:rPr>
              <a:t>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4525" y="20574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Full CO₂ EOR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Doba Bolobo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4525" y="3108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A84F"/>
                </a:solidFill>
                <a:latin typeface="Calibri"/>
              </a:rPr>
              <a:t>310 M$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56765" y="3017520"/>
            <a:ext cx="100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06440"/>
            <a:ext cx="11338560" cy="731520"/>
          </a:xfrm>
          <a:prstGeom prst="rect">
            <a:avLst/>
          </a:prstGeom>
          <a:solidFill>
            <a:srgbClr val="121B2E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806440"/>
            <a:ext cx="64008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9161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Économie consolidée (scénario base, 70 $/bbl)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245352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CAPEX cumulé 900 M$ • OPEX incr. 6,2 $/bbl • Production incr. 195 Mbbl • VAN10 5,2 Md$ • IRR 23 % • Payback 6,4 ans • Break-even 38 $/bbl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A84F"/>
                </a:solidFill>
                <a:latin typeface="Calibri"/>
              </a:rPr>
              <a:t>08 — DÉCISIONS REQUISES CODIR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3 décisions — fenêtre 60 jours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25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338560" cy="1508760"/>
          </a:xfrm>
          <a:prstGeom prst="rect">
            <a:avLst/>
          </a:prstGeom>
          <a:solidFill>
            <a:srgbClr val="2A2312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91440" cy="150876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D9A84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09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D9A84F"/>
                </a:solidFill>
                <a:latin typeface="Calibri"/>
              </a:rPr>
              <a:t>Budget pilote 2026 — 48 M 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031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PVT/SCAL exhaustif + pilote H₂O₂ 3 puits Doba + ASP 6 puits Miandoum + CSS 3 puits Bongor + 12 intelligent completions.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Porteurs : VP Reservoir Engineering + VP Opérations Amont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Livrable : rapport intégré T2 2027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Décision attendue : validation CODIR — 15 juin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27832"/>
            <a:ext cx="11338560" cy="1508760"/>
          </a:xfrm>
          <a:prstGeom prst="rect">
            <a:avLst/>
          </a:prstGeom>
          <a:solidFill>
            <a:srgbClr val="121E30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27832"/>
            <a:ext cx="91440" cy="15087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10712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2E86D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E86DE"/>
                </a:solidFill>
                <a:latin typeface="Calibri"/>
              </a:rPr>
              <a:t>Partenariats R&amp;D — signature Q3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752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3 Memorandum of Understanding à signer avant septembre 2026 :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IFP Énergies Nouvelles (protocoles EOR + caractérisation)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Solvay Peroxides ou Kemira (H₂O₂ supply + catalyseurs)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Université de N'Djamena + CIRAD (sourcing local + MEOR)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Porteur : VP Partenariats + Directeur R&amp;D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55464"/>
            <a:ext cx="11338560" cy="1508760"/>
          </a:xfrm>
          <a:prstGeom prst="rect">
            <a:avLst/>
          </a:prstGeom>
          <a:solidFill>
            <a:srgbClr val="0E221C"/>
          </a:solidFill>
          <a:ln w="635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855464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38344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651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0B981"/>
                </a:solidFill>
                <a:latin typeface="Calibri"/>
              </a:rPr>
              <a:t>Renforcement équipe — recrutement H1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58384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Création de 3 postes critiques pour la conduite du programme :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Chief Reservoir Engineer (12+ ans, expertise brownfield)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Head of Digital Twin (expérience majors impérative)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Senior HSE Specialist Chemicals (expertise oxydants)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8ECF2"/>
                </a:solidFill>
                <a:latin typeface="Calibri"/>
              </a:rPr>
              <a:t>• Budget talent : 1,8 M USD/an chargé • Porteur : DRH + 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7"/>
                </a:solidFill>
                <a:latin typeface="Calibri"/>
              </a:rPr>
              <a:t>EnerTchad Groupe  •  Confidentiel CODIR  •  Avril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7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A84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Discipline du phasage.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Apprendre avant de déployer.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1">
                <a:solidFill>
                  <a:srgbClr val="E8ECF2"/>
                </a:solidFill>
                <a:latin typeface="Calibri"/>
              </a:rPr>
              <a:t>Les majors qui ont réussi leurs champs mâtures — Saudi Aramco sur Ghawar, Equinor sur Statfjord — ne sont ni les premiers ni les plus audacieux. Ce sont les plus méthodiques.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5875">
            <a:solidFill>
              <a:srgbClr val="D9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9A84F"/>
                </a:solidFill>
                <a:latin typeface="Calibri"/>
              </a:rPr>
              <a:t>30 jours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Validation CODIR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budget pilote 48 M$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0233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5875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E86DE"/>
                </a:solidFill>
                <a:latin typeface="Calibri"/>
              </a:rPr>
              <a:t>60 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526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Lancement recrutements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3 postes critiques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233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B981"/>
                </a:solidFill>
                <a:latin typeface="Calibri"/>
              </a:rPr>
              <a:t>90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26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Signature des 3 MOU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partenariats R&amp;D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0233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A5E9"/>
                </a:solidFill>
                <a:latin typeface="Calibri"/>
              </a:rPr>
              <a:t>180 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526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First injection H₂O₂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E8ECF2"/>
                </a:solidFill>
                <a:latin typeface="Calibri"/>
              </a:rPr>
              <a:t>DBM-14 (Doba)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Bignero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A94A7"/>
                </a:solidFill>
                <a:latin typeface="Calibri"/>
              </a:rPr>
              <a:t>Directeur Général — EnerTchad Groupe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D9A84F"/>
                </a:solidFill>
                <a:latin typeface="Calibri"/>
              </a:rPr>
              <a:t>Avril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8A94A7"/>
                </a:solidFill>
                <a:latin typeface="Calibri"/>
              </a:rPr>
              <a:t>Confidentiel — Comité de Direction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